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8" r:id="rId3"/>
    <p:sldId id="299" r:id="rId4"/>
    <p:sldId id="301" r:id="rId5"/>
    <p:sldId id="318" r:id="rId6"/>
    <p:sldId id="279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20" r:id="rId17"/>
    <p:sldId id="311" r:id="rId18"/>
    <p:sldId id="312" r:id="rId19"/>
    <p:sldId id="313" r:id="rId20"/>
    <p:sldId id="314" r:id="rId21"/>
    <p:sldId id="315" r:id="rId22"/>
    <p:sldId id="267" r:id="rId23"/>
    <p:sldId id="316" r:id="rId24"/>
    <p:sldId id="31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99CA"/>
    <a:srgbClr val="BC70FF"/>
    <a:srgbClr val="FF3300"/>
    <a:srgbClr val="FF2F05"/>
    <a:srgbClr val="F00078"/>
    <a:srgbClr val="B996D0"/>
    <a:srgbClr val="DE1295"/>
    <a:srgbClr val="0000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61C0B-7153-4AF1-A5D6-90ABAC5FDA72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F1891-9377-4F48-B16E-DBD355905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60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879E-12CC-64FF-0CC3-D6BEC8E9D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AF3F6-0840-0537-28C8-2D89498F1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4D845-7261-C413-FDCA-DB55A402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E1399-77BF-332C-2E5C-2A61A1CB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2128D-880E-C71B-5056-8DAAD961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1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FF69-09B6-9BFA-5B48-294D6B34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570E-FF1F-EC04-34A5-680577847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A6B4-2995-4DEB-7ED2-44CF9A27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F8A02-9611-90F2-4F69-5E4017E0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BE3AA-E742-D75B-66EA-8631C604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9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15DA-3295-6EDF-5D16-E9F6C948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C33B8-09BD-6D58-ED0B-80244AFD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5155-854C-AF58-98D8-CF3D1FD4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3F16A-4ADA-7130-D50A-1C728E80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5D1F-3C57-AB23-0724-1C02932D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7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8678-7232-71A8-2F84-20DAC1D5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76097-9360-99CE-6B05-BD9E4B63A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84ECD-4423-827B-5DA5-DA91E70B3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6FE76-28F4-E602-9842-7FE878FD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2D116-5C5A-B755-760E-03704015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7DABD-D268-42DD-2BFD-AABDD91A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04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237B-A1AF-AEDE-C219-1AB77966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4B548-D849-617A-6C39-470B83B10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05CEC-D99F-A0C9-830A-E6F6FE526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A7B3D-A71B-9F42-1458-9566B6924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4F368-CF1F-C168-277D-1D7C763EC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C7D8E-5B33-27D0-24C9-4C5C56FA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F226F-F4FD-52CE-A3ED-59B84918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A4BDC-652B-4D57-4E8A-990134D2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99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44FA-CF87-32BB-2E12-3A9BE76C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3302A-20D9-7822-E506-8AA8A5C7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90AE5-7361-3173-8530-DC7BBC2A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3157E-4B6D-D047-3F74-8BE757E9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1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34A33-3D35-D4A0-2D3B-47694F98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EE9F8-44AD-AEE1-04FB-7313E792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F5F67-AED4-C99A-C77C-D1BF1887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27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7C14-4B7B-6BE7-11C5-D9EDE481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8313-6BC1-504B-6539-09518F575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F688D-11E1-C29B-11C2-79ABD26F5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D6548-98F6-7482-36F5-2DA52E6F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FDAD6-54F8-F9A7-7A37-20E4B053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9CCBF-2F85-B01E-772E-E7B41764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32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C3D7-2F74-4280-003F-E13F055A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11607-CA5D-BF4B-0F51-0FFE88C79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CB9D3-BA46-2309-9861-08EE83FDC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2740A-20B8-5244-2CC9-B99FBAFB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019B6-FE6A-28FE-8C43-6C9BAFA4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25214-91AA-DACF-377A-D154BA16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212C-F4B6-2510-2A87-DA2C7681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C02CB-87B6-54C8-04B0-4FF1BCB47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3D5B-2856-26BF-DEAE-B3D53171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550B9-CB2A-04C0-7DC5-6879027E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66038-9967-8C99-BE96-5B410C5C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4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16C1E-DCFC-5232-C917-631298FC0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1997-9062-C6C0-9617-D2B5C9D91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FECF-5792-8719-3900-C759D1A4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034D-E55D-70FB-95E5-6B1050AB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9D763-1700-D99C-2CFC-DD544B91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02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B6AE6-2C57-C651-FF48-B0C64B7A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9B9D0-E354-E5B8-3C31-3C8BF068F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7DB49-5128-DFA6-F517-4ED6BEBAC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7873C-A0F3-4A6A-BD1C-6CD3CAC898A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9ED8-E325-F275-FF7C-EA16A1D1D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9B9B-9FB4-64D1-9923-97BA9B2A5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6A792-8995-466E-B3A2-A63C679AC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90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07928F-2626-9FBA-C4D0-6C5C8515AD1C}"/>
              </a:ext>
            </a:extLst>
          </p:cNvPr>
          <p:cNvSpPr txBox="1"/>
          <p:nvPr/>
        </p:nvSpPr>
        <p:spPr>
          <a:xfrm>
            <a:off x="2081979" y="1536431"/>
            <a:ext cx="802803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  <a:latin typeface="Tw Cen MT Condensed Extra Bold" panose="020B0803020202020204" pitchFamily="34" charset="0"/>
              </a:rPr>
              <a:t>QuickBite</a:t>
            </a:r>
            <a:r>
              <a:rPr lang="en-US" sz="6000" dirty="0">
                <a:solidFill>
                  <a:schemeClr val="bg1"/>
                </a:solidFill>
                <a:latin typeface="Tw Cen MT Condensed Extra Bold" panose="020B0803020202020204" pitchFamily="34" charset="0"/>
              </a:rPr>
              <a:t> Express</a:t>
            </a:r>
          </a:p>
          <a:p>
            <a:pPr algn="ctr"/>
            <a:r>
              <a:rPr lang="en-US" sz="4400" dirty="0">
                <a:solidFill>
                  <a:srgbClr val="FFFF00"/>
                </a:solidFill>
                <a:latin typeface="Tw Cen MT Condensed Extra Bold" panose="020B0803020202020204" pitchFamily="34" charset="0"/>
              </a:rPr>
              <a:t>Crisis Recovery Analysis</a:t>
            </a:r>
            <a:endParaRPr lang="en-IN" sz="4400" dirty="0">
              <a:solidFill>
                <a:srgbClr val="FFFF00"/>
              </a:solidFill>
              <a:effectLst/>
              <a:latin typeface="Tw Cen MT Condensed Extra Bold" panose="020B08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77130-77DD-2488-4B21-4A22BEFF2080}"/>
              </a:ext>
            </a:extLst>
          </p:cNvPr>
          <p:cNvSpPr txBox="1"/>
          <p:nvPr/>
        </p:nvSpPr>
        <p:spPr>
          <a:xfrm>
            <a:off x="3048865" y="3628798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b="0" i="0" dirty="0">
                <a:solidFill>
                  <a:srgbClr val="FFDE00"/>
                </a:solidFill>
                <a:effectLst/>
              </a:rPr>
              <a:t>Domain:</a:t>
            </a:r>
            <a:r>
              <a:rPr lang="en-IN" b="0" i="0" dirty="0">
                <a:solidFill>
                  <a:srgbClr val="FFFFFF"/>
                </a:solidFill>
                <a:effectLst/>
              </a:rPr>
              <a:t> Food Delivery &amp; Consumer Analytics</a:t>
            </a:r>
            <a:endParaRPr lang="en-IN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6FC3E-B13F-01A5-E3FE-FF2581357447}"/>
              </a:ext>
            </a:extLst>
          </p:cNvPr>
          <p:cNvSpPr txBox="1"/>
          <p:nvPr/>
        </p:nvSpPr>
        <p:spPr>
          <a:xfrm>
            <a:off x="3048865" y="4074020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b="0" i="0" dirty="0">
                <a:solidFill>
                  <a:srgbClr val="FFDE00"/>
                </a:solidFill>
                <a:effectLst/>
              </a:rPr>
              <a:t>Function:</a:t>
            </a:r>
            <a:r>
              <a:rPr lang="en-IN" b="0" i="0" dirty="0">
                <a:solidFill>
                  <a:srgbClr val="FFFFFF"/>
                </a:solidFill>
                <a:effectLst/>
              </a:rPr>
              <a:t> Crisis Recovery &amp; Business Strategy</a:t>
            </a:r>
            <a:endParaRPr lang="en-IN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3590B-796D-DA5A-F34A-A554967C661F}"/>
              </a:ext>
            </a:extLst>
          </p:cNvPr>
          <p:cNvSpPr txBox="1"/>
          <p:nvPr/>
        </p:nvSpPr>
        <p:spPr>
          <a:xfrm>
            <a:off x="3048865" y="4552785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b="1" i="0" dirty="0">
                <a:solidFill>
                  <a:srgbClr val="FFDE00"/>
                </a:solidFill>
                <a:effectLst/>
              </a:rPr>
              <a:t>CODEBASICS RESUME PROJECT CHALLENGE #18</a:t>
            </a:r>
            <a:endParaRPr lang="en-IN" b="1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87488-1C39-6FAF-EDB3-40ABFF4C2396}"/>
              </a:ext>
            </a:extLst>
          </p:cNvPr>
          <p:cNvSpPr txBox="1"/>
          <p:nvPr/>
        </p:nvSpPr>
        <p:spPr>
          <a:xfrm>
            <a:off x="3048865" y="501313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b="0" i="0" dirty="0">
                <a:solidFill>
                  <a:srgbClr val="FFDE00"/>
                </a:solidFill>
                <a:effectLst/>
              </a:rPr>
              <a:t>PRESENTED BY :</a:t>
            </a:r>
            <a:r>
              <a:rPr lang="en-IN" b="0" i="0" dirty="0">
                <a:solidFill>
                  <a:srgbClr val="FFFFFF"/>
                </a:solidFill>
                <a:effectLst/>
              </a:rPr>
              <a:t> RISHITA SINGH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9832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583EA-ED4F-2310-A888-67ADFC2A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6DBFA40-8EFA-CE9E-1B9E-644B0E3D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Times New Roman" panose="02020603050405020304" pitchFamily="18" charset="0"/>
              </a:rPr>
              <a:t>Agenda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BC3DF61-99B7-0DE7-B5D8-37262ECA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Context &amp; Crisis Summary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Analysis : Customers, Orders, Delivery, Revenue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Analysis : Competitor &amp; Market Trends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Recommendations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3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CD20C-2590-5D07-9011-D90FDF8D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9DD3A69-64F0-65D5-9889-7C62A6D3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83"/>
            <a:ext cx="10515600" cy="1325563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Times New Roman" panose="02020603050405020304" pitchFamily="18" charset="0"/>
              </a:rPr>
              <a:t>Project Context &amp; Crisis Summary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62FF756-7D3C-F646-889A-903773879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253"/>
            <a:ext cx="10515600" cy="5185064"/>
          </a:xfrm>
        </p:spPr>
        <p:txBody>
          <a:bodyPr>
            <a:normAutofit fontScale="77500" lnSpcReduction="20000"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: </a:t>
            </a:r>
            <a:r>
              <a:rPr lang="en-US" alt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QuickBite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Express - Bengaluru-based food delivery startup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Crisis Trigger (June 2025) :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social media post about food safety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Week-long delivery outage during monsoon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Impacts :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 decline in daily orders and customer engagement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in customer satisfaction scores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Partner restaurants moved to competitors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costs increased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0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839A0-EE04-D9A9-685D-AC63CBA7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8B48D6B-82F3-1306-BA71-18DBF4C8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83"/>
            <a:ext cx="10515600" cy="1325563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Times New Roman" panose="02020603050405020304" pitchFamily="18" charset="0"/>
              </a:rPr>
              <a:t>Project Objective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6D1000E-4E5F-DDED-D3BC-A733A0BCC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824"/>
            <a:ext cx="10515600" cy="5185064"/>
          </a:xfrm>
        </p:spPr>
        <p:txBody>
          <a:bodyPr>
            <a:normAutofit fontScale="92500" lnSpcReduction="20000"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Goal : Provide actionable insights for </a:t>
            </a:r>
            <a:r>
              <a:rPr lang="en-US" alt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QuickBite’s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crisis recovery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Areas :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recoverable vs lost customer segments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order patterns &amp; delivery performance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customer feedback &amp; sentiment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restaurant partnerships for long-term retention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targeted campaigns to rebuild trust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Support leadership in strategic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5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30B8C-D1EF-68BC-CBBD-CF5B8355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0F1884-1E7F-3CB5-DD73-AC92E829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Primary Analysis</a:t>
            </a:r>
            <a:endParaRPr lang="en-US" sz="6600" dirty="0">
              <a:latin typeface="Tw Cen MT Condensed Extra Bold" panose="020B08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18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EC2CB-4085-63BE-1A19-C3A6381C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99E984-5EAF-1B75-6987-1CDAA3F4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Orders</a:t>
            </a:r>
            <a:endParaRPr lang="en-US" sz="4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DB49A-9E8A-F2BE-31AD-CA17BF568AC4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Compare total orders across pre-crisis (Jan–May 2025) vs crisis (Jun–Sep 2025). How severe is the decline?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57C92-784E-FF22-45D7-403C30A42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128264"/>
            <a:ext cx="4160520" cy="43745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B6DFEC-047D-9D7F-F3D2-6EDDFE0D3A69}"/>
              </a:ext>
            </a:extLst>
          </p:cNvPr>
          <p:cNvSpPr txBox="1"/>
          <p:nvPr/>
        </p:nvSpPr>
        <p:spPr>
          <a:xfrm>
            <a:off x="5246262" y="4963465"/>
            <a:ext cx="6035162" cy="67710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Insight: </a:t>
            </a:r>
            <a:r>
              <a:rPr lang="en-US" sz="1600" dirty="0">
                <a:solidFill>
                  <a:schemeClr val="bg1"/>
                </a:solidFill>
              </a:rPr>
              <a:t>Crisis caused an immediate and severe drop, with partial stabilization in following months.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420A3F-8809-484D-52E0-D631F4DDE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781" y="2087487"/>
            <a:ext cx="2774781" cy="1325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F1B98-B607-61C1-CAF7-5B8EBE24CE12}"/>
              </a:ext>
            </a:extLst>
          </p:cNvPr>
          <p:cNvSpPr txBox="1"/>
          <p:nvPr/>
        </p:nvSpPr>
        <p:spPr>
          <a:xfrm>
            <a:off x="8408114" y="2083715"/>
            <a:ext cx="31693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cs typeface="Arial" panose="020B0604020202020204" pitchFamily="34" charset="0"/>
              </a:rPr>
              <a:t>Total Orders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  <a:cs typeface="Arial" panose="020B0604020202020204" pitchFamily="34" charset="0"/>
              </a:rPr>
              <a:t>Pre-Crisis (Jan - May 2025) : </a:t>
            </a: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113,810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  <a:cs typeface="Arial" panose="020B0604020202020204" pitchFamily="34" charset="0"/>
              </a:rPr>
              <a:t>Crisis (Jun - Sep 2025) : </a:t>
            </a: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35,360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  <a:cs typeface="Arial" panose="020B0604020202020204" pitchFamily="34" charset="0"/>
              </a:rPr>
              <a:t>Overall Decline: </a:t>
            </a: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68.9% Monthly </a:t>
            </a:r>
            <a:endParaRPr lang="en-IN" sz="1600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08BD7-55E7-C32D-7558-465781D96B42}"/>
              </a:ext>
            </a:extLst>
          </p:cNvPr>
          <p:cNvSpPr txBox="1"/>
          <p:nvPr/>
        </p:nvSpPr>
        <p:spPr>
          <a:xfrm>
            <a:off x="5246262" y="3649649"/>
            <a:ext cx="5816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Trends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</a:rPr>
              <a:t>Jan - May: </a:t>
            </a:r>
            <a:r>
              <a:rPr lang="en-US" sz="1600" dirty="0">
                <a:solidFill>
                  <a:schemeClr val="bg1"/>
                </a:solidFill>
              </a:rPr>
              <a:t>Stable (~21k-23k orders/month)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</a:rPr>
              <a:t>June: </a:t>
            </a:r>
            <a:r>
              <a:rPr lang="en-US" sz="1600" dirty="0">
                <a:solidFill>
                  <a:schemeClr val="bg1"/>
                </a:solidFill>
              </a:rPr>
              <a:t>Sharp drop to 9,293 orders (-58.9%)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499CA"/>
                </a:solidFill>
              </a:rPr>
              <a:t>Jul - Sep: </a:t>
            </a:r>
            <a:r>
              <a:rPr lang="en-US" sz="1600" dirty="0">
                <a:solidFill>
                  <a:schemeClr val="bg1"/>
                </a:solidFill>
              </a:rPr>
              <a:t>Slight recovery (~8.5k-8.8k orders/month)</a:t>
            </a:r>
          </a:p>
        </p:txBody>
      </p:sp>
    </p:spTree>
    <p:extLst>
      <p:ext uri="{BB962C8B-B14F-4D97-AF65-F5344CB8AC3E}">
        <p14:creationId xmlns:p14="http://schemas.microsoft.com/office/powerpoint/2010/main" val="414478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B6312-EAA2-95FD-6CDA-A8D25EF5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A06525-7968-DC6F-30DC-B7CBAD97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Cities - Highest Order Decline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3D0C4-F1A0-1BD7-C523-C82516097FF9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Which top 5 city groups experienced the highest percentage decline in orders during the crisis period compared to the pre-crisis period?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50A6B-05BE-8AB3-B070-93D566121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7520" y="1987164"/>
            <a:ext cx="6156960" cy="22403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D1CB69-A411-B7A0-7EED-A8689CF4307B}"/>
              </a:ext>
            </a:extLst>
          </p:cNvPr>
          <p:cNvSpPr txBox="1"/>
          <p:nvPr/>
        </p:nvSpPr>
        <p:spPr>
          <a:xfrm>
            <a:off x="1808740" y="4858313"/>
            <a:ext cx="8574520" cy="67710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Top 5 Cities by % Order Decline</a:t>
            </a:r>
            <a:r>
              <a:rPr lang="en-US" sz="1600" dirty="0">
                <a:solidFill>
                  <a:srgbClr val="FFFF00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</a:rPr>
              <a:t>Chennai - 69.98% Kolkata - 69.19% Bengaluru - 69.17% Hyderabad - 68.92% Ahmedabad - 68.83%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FDFF-474A-8545-AFD7-9F84E5B049EC}"/>
              </a:ext>
            </a:extLst>
          </p:cNvPr>
          <p:cNvSpPr txBox="1"/>
          <p:nvPr/>
        </p:nvSpPr>
        <p:spPr>
          <a:xfrm>
            <a:off x="1536700" y="4446113"/>
            <a:ext cx="911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Overall Observation: </a:t>
            </a:r>
            <a:r>
              <a:rPr lang="en-US" sz="1600" dirty="0">
                <a:solidFill>
                  <a:schemeClr val="bg1"/>
                </a:solidFill>
              </a:rPr>
              <a:t>All major cities experienced a ~68-70% drop in orders during the crisis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D804B-5D00-C4EB-BD6D-393DB92FF9E7}"/>
              </a:ext>
            </a:extLst>
          </p:cNvPr>
          <p:cNvSpPr txBox="1"/>
          <p:nvPr/>
        </p:nvSpPr>
        <p:spPr>
          <a:xfrm>
            <a:off x="2278319" y="5609067"/>
            <a:ext cx="7635362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Insight: </a:t>
            </a:r>
            <a:r>
              <a:rPr lang="en-US" sz="1600" dirty="0">
                <a:solidFill>
                  <a:schemeClr val="bg1"/>
                </a:solidFill>
              </a:rPr>
              <a:t>Tier-1 cities were hit hardest, signaling the priority markets for recovery efforts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4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E25C9-E14D-62D3-C2A9-3A3A90CB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5A4FBC-2628-CCCD-4647-AF73F1CF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Restaurants - Largest Order Decline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02EC4-0E03-3D3B-998E-3FC7840724EC}"/>
              </a:ext>
            </a:extLst>
          </p:cNvPr>
          <p:cNvSpPr txBox="1"/>
          <p:nvPr/>
        </p:nvSpPr>
        <p:spPr>
          <a:xfrm>
            <a:off x="1208577" y="1205632"/>
            <a:ext cx="9774846" cy="101566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Among restaurants with the highest order volumes before the crisis, which top 10 restaurants recorded the largest percentage drop in orders during the crisis?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686FF-040F-4CAD-91BF-6CD9685C3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7811" y="2301359"/>
            <a:ext cx="4256375" cy="24589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7E8B42-5DE2-E323-3E02-F16D7D83B10C}"/>
              </a:ext>
            </a:extLst>
          </p:cNvPr>
          <p:cNvSpPr txBox="1"/>
          <p:nvPr/>
        </p:nvSpPr>
        <p:spPr>
          <a:xfrm>
            <a:off x="1208576" y="4840372"/>
            <a:ext cx="9774846" cy="9233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Top 10 high-volume restaurants faced 71.6% average order decline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Urban Kitchen Zone saw the largest drop at 85%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Restaurants maintained strong average ratings (4.12)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1F668-8442-0A45-C980-B75D8F4C9DA9}"/>
              </a:ext>
            </a:extLst>
          </p:cNvPr>
          <p:cNvSpPr txBox="1"/>
          <p:nvPr/>
        </p:nvSpPr>
        <p:spPr>
          <a:xfrm>
            <a:off x="2278318" y="5763702"/>
            <a:ext cx="7635362" cy="43088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Insight: </a:t>
            </a:r>
            <a:r>
              <a:rPr lang="en-US" sz="1600" dirty="0">
                <a:solidFill>
                  <a:schemeClr val="bg1"/>
                </a:solidFill>
              </a:rPr>
              <a:t>High-volume restaurants were severely impacted, despite generally good ratings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25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93111-19D7-C5B0-A402-D841B9E5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EC3FAE-BAA9-1CBD-5EC4-86872B19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Analysis - Pre-Crisis vs Crisis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FF16C-704B-BF39-DEB7-ED6C073AD112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Cancellation Analysis: What is the cancellation rate trend pre-crisis vs crisis, and which cities are most affected?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DE6DC-B1A8-355D-CED8-5DB69CE9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9310" y="2017628"/>
            <a:ext cx="6039787" cy="24737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FC8D5B-C1ED-6625-8FB7-5D0A54BF0CF7}"/>
              </a:ext>
            </a:extLst>
          </p:cNvPr>
          <p:cNvSpPr txBox="1"/>
          <p:nvPr/>
        </p:nvSpPr>
        <p:spPr>
          <a:xfrm>
            <a:off x="1572902" y="3517730"/>
            <a:ext cx="2923230" cy="9233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Overall cancellation rate nearly </a:t>
            </a:r>
            <a:r>
              <a:rPr lang="en-US" sz="1600" b="1" dirty="0">
                <a:solidFill>
                  <a:srgbClr val="FFFF00"/>
                </a:solidFill>
              </a:rPr>
              <a:t>doubled during the crisis </a:t>
            </a:r>
            <a:r>
              <a:rPr lang="en-US" sz="1600" dirty="0">
                <a:solidFill>
                  <a:schemeClr val="bg1"/>
                </a:solidFill>
              </a:rPr>
              <a:t>(Pre-crisis: 6.06% to Crisis: 11.93%)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D74A26-79EF-0D83-21DF-7251E039A414}"/>
              </a:ext>
            </a:extLst>
          </p:cNvPr>
          <p:cNvSpPr txBox="1"/>
          <p:nvPr/>
        </p:nvSpPr>
        <p:spPr>
          <a:xfrm>
            <a:off x="1454118" y="4726161"/>
            <a:ext cx="9283761" cy="67710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tIns="91440" bIns="9144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Highest cancellation rate increases observed in: </a:t>
            </a:r>
            <a:r>
              <a:rPr lang="en-US" sz="1600" dirty="0">
                <a:solidFill>
                  <a:schemeClr val="bg1"/>
                </a:solidFill>
              </a:rPr>
              <a:t>Ahmedabad: +114% Mumbai: +110% Chennai: +101%</a:t>
            </a: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Other Tier-1 cities like </a:t>
            </a:r>
            <a:r>
              <a:rPr lang="en-US" sz="1600" dirty="0">
                <a:solidFill>
                  <a:schemeClr val="bg1"/>
                </a:solidFill>
              </a:rPr>
              <a:t>Bengaluru, Hyderabad, Kolkata also saw significant increases (≈90–104%)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40251-9FDC-2033-DC57-DD03D4C43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2017628"/>
            <a:ext cx="2923230" cy="1395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F811B3-F6D1-633F-F4D2-8113FE87E7F3}"/>
              </a:ext>
            </a:extLst>
          </p:cNvPr>
          <p:cNvSpPr txBox="1"/>
          <p:nvPr/>
        </p:nvSpPr>
        <p:spPr>
          <a:xfrm>
            <a:off x="2372359" y="5587751"/>
            <a:ext cx="744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Indicates major operational disruption during crisis, especially in Tier-1 cities</a:t>
            </a:r>
            <a:endParaRPr lang="en-IN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6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52EE-B959-FA23-65F8-6D0D468B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39D5C8-5B7A-1849-9333-A1498F8A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SLA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A2534-2075-CC79-59E0-C1BC35F85A46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Measure average delivery time across phases. Did SLA compliance worsen significantly in the crisis period? 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AFB07-B867-634E-B30C-403F75EC4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7602" y="1989188"/>
            <a:ext cx="3648622" cy="2473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CD67FB-BC53-BB5B-F8B9-58EE4DFA1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5778" y="1989188"/>
            <a:ext cx="3648622" cy="1033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EFA25B-5A32-4AE1-F2D2-A03FB6681B4C}"/>
              </a:ext>
            </a:extLst>
          </p:cNvPr>
          <p:cNvSpPr txBox="1"/>
          <p:nvPr/>
        </p:nvSpPr>
        <p:spPr>
          <a:xfrm>
            <a:off x="1993900" y="4647412"/>
            <a:ext cx="8001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Average delivery time increased during crisis </a:t>
            </a:r>
            <a:r>
              <a:rPr lang="en-US" sz="1600" b="1" dirty="0">
                <a:solidFill>
                  <a:srgbClr val="FFFF00"/>
                </a:solidFill>
              </a:rPr>
              <a:t>(Pre-crisis: 39.52 mins to Crisis: 60.12 mins)</a:t>
            </a:r>
          </a:p>
          <a:p>
            <a:pPr algn="ctr"/>
            <a:endParaRPr lang="en-US" sz="1600" b="1" dirty="0">
              <a:solidFill>
                <a:srgbClr val="FFFF00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SLA compliance </a:t>
            </a:r>
            <a:r>
              <a:rPr lang="en-US" sz="1600" b="1" dirty="0">
                <a:solidFill>
                  <a:srgbClr val="FFFF00"/>
                </a:solidFill>
              </a:rPr>
              <a:t>dropped sharply from 43.6% to 12.2% (-72%)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Month-wise trend: stable ~43% pre-crisis, collapsed to ~12% during crisis (Jun–Sep)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Indicates major operational disruptions, likely contributing to cancellations and reduced customer trust</a:t>
            </a:r>
            <a:endParaRPr lang="en-IN" sz="1600" b="1" dirty="0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2FB883-E676-2576-A7C3-436A209B3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778" y="3206989"/>
            <a:ext cx="3648622" cy="11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7F404-49C9-8350-B1A4-2E8B8EAE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C344E3-6933-B6BC-3F27-111D93FC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Ratings Fluctuation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1D5FC-A135-2C73-CB15-B446D9256F91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Track average customer rating month-by-month. Which months saw the sharpest drop?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C46D3-0FA7-09D0-0B32-52631CE51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9922" y="1969398"/>
            <a:ext cx="3432155" cy="24737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CA64DD-6AAE-9DC8-A3BF-4ADF41CB73A8}"/>
              </a:ext>
            </a:extLst>
          </p:cNvPr>
          <p:cNvSpPr txBox="1"/>
          <p:nvPr/>
        </p:nvSpPr>
        <p:spPr>
          <a:xfrm>
            <a:off x="1875789" y="4647412"/>
            <a:ext cx="84404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Average customer ratings </a:t>
            </a:r>
            <a:r>
              <a:rPr lang="en-US" sz="1600" b="1" dirty="0">
                <a:solidFill>
                  <a:srgbClr val="FFFF00"/>
                </a:solidFill>
              </a:rPr>
              <a:t>dropped</a:t>
            </a:r>
            <a:r>
              <a:rPr lang="en-US" sz="1600" dirty="0">
                <a:solidFill>
                  <a:schemeClr val="bg1"/>
                </a:solidFill>
              </a:rPr>
              <a:t> dramatically during the crisis </a:t>
            </a:r>
            <a:r>
              <a:rPr lang="en-US" sz="1600" b="1" dirty="0">
                <a:solidFill>
                  <a:srgbClr val="FFFF00"/>
                </a:solidFill>
              </a:rPr>
              <a:t>(Pre-crisis: 4.5 to Crisis: 2.51)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June saw the steepest drop</a:t>
            </a:r>
            <a:r>
              <a:rPr lang="en-US" sz="1600" dirty="0">
                <a:solidFill>
                  <a:schemeClr val="bg1"/>
                </a:solidFill>
              </a:rPr>
              <a:t>, with a 41.5% decline, coinciding with the crisis onset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Ratings remained low through July-September, indicating sustained trust issues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Highlights the need for targeted customer engagement and trust-building initiatives</a:t>
            </a:r>
            <a:endParaRPr lang="en-IN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42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8A56E-F3C9-672D-461D-87B23959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FAA0630-45F8-B33F-B908-8FEBB3C8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13F25-2FFA-9ABA-96CD-8316B85C8907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During the crisis period, identify the most frequently occurring negative keywords in customer review texts.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E3DE6-78CB-F95A-85AB-CF7919B32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6279" y="2002194"/>
            <a:ext cx="4439437" cy="22102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A65D36-DA58-C429-788D-F27D8E1AD646}"/>
              </a:ext>
            </a:extLst>
          </p:cNvPr>
          <p:cNvSpPr txBox="1"/>
          <p:nvPr/>
        </p:nvSpPr>
        <p:spPr>
          <a:xfrm>
            <a:off x="457197" y="4212440"/>
            <a:ext cx="11277600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Most frequent negative keywords in customer reviews during the crisis: “Food quality is not good”, “Food safety issue”, “Cold food”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“Portion size smaller than expected”, “Not worth the price”, “Average experience”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“Packaging was poor”, “Packaging issue”, “Food quality not great”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“Bad taste”, “Stale food served”, “Not recommended”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Other recurring complaints: “Very late”, “Worst order”, “Terrible hygiene”, “Horrible service”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Highlights key areas for recovery focus: food quality, safety, packaging, and timely delivery</a:t>
            </a:r>
            <a:endParaRPr lang="en-IN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63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78E9B-53D3-F7D1-5BBE-77F2B92E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E67B82-2E59-E70E-C2EB-452F376D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F6DBD-47E1-4C2C-12B9-BF4C9F2F139A}"/>
              </a:ext>
            </a:extLst>
          </p:cNvPr>
          <p:cNvSpPr txBox="1"/>
          <p:nvPr/>
        </p:nvSpPr>
        <p:spPr>
          <a:xfrm>
            <a:off x="1208577" y="1205632"/>
            <a:ext cx="9774846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Estimate revenue loss from pre-crisis vs crisis (based on subtotal, discount, and delivery fee).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37DD4-4B2E-A6BF-D13F-7C92DEBDF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7848" y="2002194"/>
            <a:ext cx="3639599" cy="22102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4F7D75-9E21-DB7B-E53A-1F92B5915A69}"/>
              </a:ext>
            </a:extLst>
          </p:cNvPr>
          <p:cNvSpPr txBox="1"/>
          <p:nvPr/>
        </p:nvSpPr>
        <p:spPr>
          <a:xfrm>
            <a:off x="1366518" y="4297156"/>
            <a:ext cx="9458957" cy="199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chemeClr val="bg1"/>
                </a:solidFill>
              </a:rPr>
              <a:t>Total revenue dropped dramatically during the crisis, from </a:t>
            </a:r>
            <a:r>
              <a:rPr lang="en-US" sz="1600" b="1" dirty="0">
                <a:solidFill>
                  <a:srgbClr val="FFFF00"/>
                </a:solidFill>
              </a:rPr>
              <a:t>37.63M pre-crisis to 10.94M</a:t>
            </a:r>
            <a:r>
              <a:rPr lang="en-US" sz="1600" dirty="0">
                <a:solidFill>
                  <a:schemeClr val="bg1"/>
                </a:solidFill>
              </a:rPr>
              <a:t> during the crisis</a:t>
            </a:r>
          </a:p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chemeClr val="bg1"/>
                </a:solidFill>
              </a:rPr>
              <a:t>This represents a </a:t>
            </a:r>
            <a:r>
              <a:rPr lang="en-US" sz="1600" b="1" dirty="0">
                <a:solidFill>
                  <a:srgbClr val="FFFF00"/>
                </a:solidFill>
              </a:rPr>
              <a:t>70.9% decline</a:t>
            </a:r>
            <a:r>
              <a:rPr lang="en-US" sz="1600" dirty="0">
                <a:solidFill>
                  <a:schemeClr val="bg1"/>
                </a:solidFill>
              </a:rPr>
              <a:t>, with June seeing the steepest drop</a:t>
            </a:r>
          </a:p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chemeClr val="bg1"/>
                </a:solidFill>
              </a:rPr>
              <a:t>Decline driven by reduced orders, higher cancellations, and operational challenges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Highlights the financial severity of the crisis and the need for urgent recovery measures</a:t>
            </a:r>
            <a:endParaRPr lang="en-IN" sz="1600" b="1" dirty="0">
              <a:solidFill>
                <a:srgbClr val="FFFF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1C983-D12B-51B6-A207-638D5FCE6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"/>
          <a:stretch>
            <a:fillRect/>
          </a:stretch>
        </p:blipFill>
        <p:spPr>
          <a:xfrm>
            <a:off x="2661920" y="2349399"/>
            <a:ext cx="3302234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1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65516-B155-38AC-26A4-224A0236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1709FE-18EA-BDAF-8518-D3F82000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22BFB-0BF9-B915-96C7-C4465A5B9C5A}"/>
              </a:ext>
            </a:extLst>
          </p:cNvPr>
          <p:cNvSpPr txBox="1"/>
          <p:nvPr/>
        </p:nvSpPr>
        <p:spPr>
          <a:xfrm>
            <a:off x="1208577" y="1205632"/>
            <a:ext cx="9774846" cy="101566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Among customers who placed five or more orders before the </a:t>
            </a:r>
          </a:p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crisis, determine how many stopped ordering during the crisis, and out of those, how many had an average rating above 4.5?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469A2-DC9A-BBDE-3D4C-3426C7B89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7796" y="2370217"/>
            <a:ext cx="8576395" cy="1510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B48B86-3BC4-74DC-AA48-A489893DAB44}"/>
              </a:ext>
            </a:extLst>
          </p:cNvPr>
          <p:cNvSpPr txBox="1"/>
          <p:nvPr/>
        </p:nvSpPr>
        <p:spPr>
          <a:xfrm>
            <a:off x="1366516" y="4009270"/>
            <a:ext cx="9458957" cy="248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dirty="0">
                <a:solidFill>
                  <a:schemeClr val="bg1"/>
                </a:solidFill>
              </a:rPr>
              <a:t>Among customers with 5+ orders pre-crisis, </a:t>
            </a:r>
            <a:r>
              <a:rPr lang="en-US" sz="1600" b="1" dirty="0">
                <a:solidFill>
                  <a:srgbClr val="FFFF00"/>
                </a:solidFill>
              </a:rPr>
              <a:t>58 were identified as loyal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49 of these loyal customers stopped </a:t>
            </a:r>
            <a:r>
              <a:rPr lang="en-US" sz="1600" dirty="0">
                <a:solidFill>
                  <a:schemeClr val="bg1"/>
                </a:solidFill>
              </a:rPr>
              <a:t>ordering during the crisis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26 of the churned loyal customers had an average rating above 4.5</a:t>
            </a:r>
            <a:r>
              <a:rPr lang="en-US" sz="1600" dirty="0">
                <a:solidFill>
                  <a:schemeClr val="bg1"/>
                </a:solidFill>
              </a:rPr>
              <a:t>, indicating high satisfaction before the crisis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Only 9 loyal customers were retained </a:t>
            </a:r>
            <a:r>
              <a:rPr lang="en-US" sz="1600" dirty="0">
                <a:solidFill>
                  <a:schemeClr val="bg1"/>
                </a:solidFill>
              </a:rPr>
              <a:t>during the crisis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solidFill>
                  <a:srgbClr val="FFFF00"/>
                </a:solidFill>
              </a:rPr>
              <a:t>Highlights the need for targeted re-engagement strategies to recover high-value customers</a:t>
            </a:r>
            <a:endParaRPr lang="en-IN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2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079AC-FB87-95B1-D9E2-73B36B5C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93CE83-673A-9833-0B03-45373EB1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Lifetime Decline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4319C-E73C-8D6E-8759-3E9DB8B7C580}"/>
              </a:ext>
            </a:extLst>
          </p:cNvPr>
          <p:cNvSpPr txBox="1"/>
          <p:nvPr/>
        </p:nvSpPr>
        <p:spPr>
          <a:xfrm>
            <a:off x="289787" y="992942"/>
            <a:ext cx="11612410" cy="101566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Which high-value customers (top 5% by total spend before the crisis) showed the largest drop in order frequency and ratings during the crisis? What common patterns (e.g., location, cuisine preference, delivery delays) do they share?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56149-B22B-A6E5-0541-7CEE65F62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2987" y="2008605"/>
            <a:ext cx="2006373" cy="2609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C25531-7DD4-A514-0125-605789318E7C}"/>
              </a:ext>
            </a:extLst>
          </p:cNvPr>
          <p:cNvSpPr txBox="1"/>
          <p:nvPr/>
        </p:nvSpPr>
        <p:spPr>
          <a:xfrm>
            <a:off x="4563478" y="2008605"/>
            <a:ext cx="7061201" cy="304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High-Value Customers (top 5%): 5,259 identified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84% stopped ordering during the crisis (4,419 customers), while only 840 remained active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Revenue contribution pre-crisis: ~15.2% of total revenue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Revenue impact: Pre-crisis 5.72M to Crisis 0.29M (95% decline)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Order frequency decline: Pre-crisis 13,869 to Crisis 919 (93.4% decline)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Average rating drop: 4.51 to 2.52 (44.2% decline)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Cuisine preference most affected: North Indian, Biryani, South Indian, Chinese, Pizza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Cities most affected: Bengaluru, Mumbai, Delhi, Hyderabad, Chennai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Highlights critical loss of top customers, requiring targeted recovery campaigns</a:t>
            </a:r>
            <a:endParaRPr lang="en-IN" sz="1600" b="1" dirty="0">
              <a:solidFill>
                <a:srgbClr val="FFFF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13C30-43B0-448D-672B-5551B1F90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01" y="4711238"/>
            <a:ext cx="4022744" cy="20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99197-47C3-5012-D812-76EED522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94AFE455-E0BD-3E0F-8A8B-BDBF190C7B9E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solidFill>
                  <a:schemeClr val="bg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Secondary Analysis</a:t>
            </a:r>
            <a:endParaRPr lang="en-US" sz="6600" dirty="0">
              <a:latin typeface="Tw Cen MT Condensed Extra Bold" panose="020B08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872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C4FF7-4430-1519-841E-07C0697B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742019-9BB8-B822-BAEA-C0F4537E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Benchmarking - Crisis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6DA34-3295-EE26-C52A-90B02C139FDA}"/>
              </a:ext>
            </a:extLst>
          </p:cNvPr>
          <p:cNvSpPr txBox="1"/>
          <p:nvPr/>
        </p:nvSpPr>
        <p:spPr>
          <a:xfrm>
            <a:off x="1419981" y="1294637"/>
            <a:ext cx="9352037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How does </a:t>
            </a:r>
            <a:r>
              <a:rPr lang="en-US" sz="2000" spc="300" dirty="0" err="1">
                <a:latin typeface="Aptos Display" panose="020B0004020202020204" pitchFamily="34" charset="0"/>
              </a:rPr>
              <a:t>QuickBite’s</a:t>
            </a:r>
            <a:r>
              <a:rPr lang="en-US" sz="2000" spc="300" dirty="0">
                <a:latin typeface="Aptos Display" panose="020B0004020202020204" pitchFamily="34" charset="0"/>
              </a:rPr>
              <a:t> crisis impact compare to competitor trends (Swiggy, Zomato) during the same period?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58496-40DD-06F8-C9B0-91622F7DAC55}"/>
              </a:ext>
            </a:extLst>
          </p:cNvPr>
          <p:cNvSpPr txBox="1"/>
          <p:nvPr/>
        </p:nvSpPr>
        <p:spPr>
          <a:xfrm>
            <a:off x="637538" y="2048427"/>
            <a:ext cx="10916921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</a:rPr>
              <a:t>QuickBite</a:t>
            </a:r>
            <a:r>
              <a:rPr lang="en-US" dirty="0">
                <a:solidFill>
                  <a:schemeClr val="bg1"/>
                </a:solidFill>
              </a:rPr>
              <a:t> experienced a steeper decline in orders (~69%) during the crisis compared to typical industry trends.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Publicly known competitors (Swiggy, Zomato) generally face moderate monsoon or operational declines (~20–30%).</a:t>
            </a:r>
          </a:p>
          <a:p>
            <a:pPr algn="ctr"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</a:rPr>
              <a:t>QuickBite’s</a:t>
            </a:r>
            <a:r>
              <a:rPr lang="en-US" dirty="0">
                <a:solidFill>
                  <a:schemeClr val="bg1"/>
                </a:solidFill>
              </a:rPr>
              <a:t> sharp drop was primarily driven by food safety incidents and delivery outages.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Indicates the crisis was predominantly </a:t>
            </a:r>
            <a:r>
              <a:rPr lang="en-US" dirty="0" err="1">
                <a:solidFill>
                  <a:schemeClr val="bg1"/>
                </a:solidFill>
              </a:rPr>
              <a:t>QuickBite</a:t>
            </a:r>
            <a:r>
              <a:rPr lang="en-US" dirty="0">
                <a:solidFill>
                  <a:schemeClr val="bg1"/>
                </a:solidFill>
              </a:rPr>
              <a:t>-specific, not purely industry-wide.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Recovery strategies should focus on rebuilding trust, improving operational reliability, and competitive positioning.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94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0C5FF-0B2B-0C59-429E-DEE10B87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22E34-C091-E085-74B7-D112CB67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Cost (CAC) - Contributing Factors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08800-B9B2-FB2C-5D3B-B21C46B71562}"/>
              </a:ext>
            </a:extLst>
          </p:cNvPr>
          <p:cNvSpPr txBox="1"/>
          <p:nvPr/>
        </p:nvSpPr>
        <p:spPr>
          <a:xfrm>
            <a:off x="1419981" y="1294637"/>
            <a:ext cx="9352037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What external factors (e.g., ad prices, seasonal effects) may</a:t>
            </a:r>
          </a:p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have contributed to CAC tripling? 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A666F-F176-07DA-B636-D4B9ABB66277}"/>
              </a:ext>
            </a:extLst>
          </p:cNvPr>
          <p:cNvSpPr txBox="1"/>
          <p:nvPr/>
        </p:nvSpPr>
        <p:spPr>
          <a:xfrm>
            <a:off x="609601" y="2201612"/>
            <a:ext cx="113182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Customer acquisition cost tripled during the crisis, indicating higher effort to attract and retain customers.</a:t>
            </a:r>
          </a:p>
          <a:p>
            <a:pPr algn="ctr">
              <a:lnSpc>
                <a:spcPct val="250000"/>
              </a:lnSpc>
            </a:pPr>
            <a:r>
              <a:rPr lang="en-US" b="1" dirty="0">
                <a:solidFill>
                  <a:srgbClr val="FFFF00"/>
                </a:solidFill>
              </a:rPr>
              <a:t>Key contributing factors: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Rising digital ad prices increasing marketing spend.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Seasonal delivery challenges affecting conversions during monsoon.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Increased customer incentives like discounts and cashback to encourage orders.</a:t>
            </a:r>
          </a:p>
          <a:p>
            <a:pPr algn="ctr">
              <a:lnSpc>
                <a:spcPct val="250000"/>
              </a:lnSpc>
            </a:pPr>
            <a:r>
              <a:rPr lang="en-US" b="1" dirty="0">
                <a:solidFill>
                  <a:srgbClr val="FFFF00"/>
                </a:solidFill>
              </a:rPr>
              <a:t>Emphasizes the need for efficient, targeted marketing campaigns to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optimize spend and recover the customer base.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76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FD965-F5C3-B9EC-5568-29B781A5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EC3705-1C97-90E1-21D9-AE6EE137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Rebuilding Strategies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B3F22-01D0-000E-72FD-7CFD0349614F}"/>
              </a:ext>
            </a:extLst>
          </p:cNvPr>
          <p:cNvSpPr txBox="1"/>
          <p:nvPr/>
        </p:nvSpPr>
        <p:spPr>
          <a:xfrm>
            <a:off x="1419981" y="1294637"/>
            <a:ext cx="9352037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Which strategies (cashbacks, partnerships, food safety audits) could be most effective to rebuild trust? 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4F91D-B2E2-A188-C49D-F13785C582BB}"/>
              </a:ext>
            </a:extLst>
          </p:cNvPr>
          <p:cNvSpPr txBox="1"/>
          <p:nvPr/>
        </p:nvSpPr>
        <p:spPr>
          <a:xfrm>
            <a:off x="497839" y="2232092"/>
            <a:ext cx="1119632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Enhanced food safety protocols and regular audits to ensure quality and hygiene.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Targeted cashback and discount campaigns to re-engage lapsed and high-value customers.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Strategic restaurant partnerships to expand variety and strengthen reliable service.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Transparent communication with customers about safety measures and service improvements.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Focus on combined approach: operational excellence + customer incentives + reliable partnerships.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5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48831-6724-BC77-9CF6-B88992298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0463AE-0490-B520-A18B-9C8F182B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Churn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7779B-D357-68B9-65FF-09D0559811CE}"/>
              </a:ext>
            </a:extLst>
          </p:cNvPr>
          <p:cNvSpPr txBox="1"/>
          <p:nvPr/>
        </p:nvSpPr>
        <p:spPr>
          <a:xfrm>
            <a:off x="1419981" y="1294637"/>
            <a:ext cx="9352037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Which types of restaurants (cloud kitchens vs dine-in, small vs large brands) are most likely to churn?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BB303-0EDD-330F-F42D-9F78E6866ADF}"/>
              </a:ext>
            </a:extLst>
          </p:cNvPr>
          <p:cNvSpPr txBox="1"/>
          <p:nvPr/>
        </p:nvSpPr>
        <p:spPr>
          <a:xfrm>
            <a:off x="497839" y="2232092"/>
            <a:ext cx="1119632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Cloud kitchens and small independent brands are more likely to churn during a crisis.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Large, established dine-in restaurants tend to stay due to brand strength and stable customer base.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Churn risk is higher for restaurants facing: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Operational challenges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Delivery delays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Lower order volumes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Recovery focus should target high-risk restaurants to maintain 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platform variety and customer satisfaction.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2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54470-441F-A44E-E101-52B5BC24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74EB45-F1A0-9380-109F-962FD564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Lapsed Customer Recovery Potential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0321F2-13C0-A346-C4D9-B7EE6D9289F9}"/>
              </a:ext>
            </a:extLst>
          </p:cNvPr>
          <p:cNvSpPr txBox="1"/>
          <p:nvPr/>
        </p:nvSpPr>
        <p:spPr>
          <a:xfrm>
            <a:off x="1419981" y="1294637"/>
            <a:ext cx="9352037" cy="70788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spc="300" dirty="0">
                <a:latin typeface="Aptos Display" panose="020B0004020202020204" pitchFamily="34" charset="0"/>
              </a:rPr>
              <a:t>Which lapsed customers (churned post-crisis) show the highest probability of returning with the right incentives? </a:t>
            </a:r>
            <a:endParaRPr lang="en-IN" sz="2000" spc="3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4CECE-0EAD-96BF-AA49-26D620E70F4F}"/>
              </a:ext>
            </a:extLst>
          </p:cNvPr>
          <p:cNvSpPr txBox="1"/>
          <p:nvPr/>
        </p:nvSpPr>
        <p:spPr>
          <a:xfrm>
            <a:off x="497839" y="2232092"/>
            <a:ext cx="1119632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High-value lapsed customers show the highest probability of returning with targeted incentives.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Customers with previous order frequency ≥5 or average ratings ≥4.5 are more likely to re-engage.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Effective incentives include: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Personalized cashback or discount offers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Exclusive loyalty rewards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Targeted communication highlighting service improvements</a:t>
            </a:r>
          </a:p>
          <a:p>
            <a:pPr algn="ctr">
              <a:lnSpc>
                <a:spcPct val="300000"/>
              </a:lnSpc>
            </a:pPr>
            <a:r>
              <a:rPr lang="en-US" b="1" dirty="0">
                <a:solidFill>
                  <a:srgbClr val="FFFF00"/>
                </a:solidFill>
              </a:rPr>
              <a:t>Recovery focus on these segments can maximize revenue impact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and rebuild engagement efficiently.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04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8417C-F164-FFBF-BB09-C0119DD7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EB62A1-41DB-F7B4-09CF-ACE240C8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Summary &amp; Recommendations</a:t>
            </a:r>
            <a:endParaRPr lang="en-US" sz="6600" dirty="0">
              <a:latin typeface="Tw Cen MT Condensed Extra Bold" panose="020B08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1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D47B5-4CAA-4781-B429-6D0E4342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4F7941-4DDA-6199-01AB-F29EA818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9F3D5-F621-663D-D633-DA2C62D53052}"/>
              </a:ext>
            </a:extLst>
          </p:cNvPr>
          <p:cNvSpPr txBox="1"/>
          <p:nvPr/>
        </p:nvSpPr>
        <p:spPr>
          <a:xfrm>
            <a:off x="594360" y="1165292"/>
            <a:ext cx="11003280" cy="344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Overall orders declined ~69% during the crisis; customer satisfaction dropped from 4.5 to 2.51.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Tier-1 cities like Chennai, Kolkata, Bengaluru, Hyderabad, and Ahmedabad experienced the highest order declines.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Top high-volume restaurants and high-value customers were significantly impacted.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Cancellation rates and SLA compliance worsened drastically.</a:t>
            </a:r>
          </a:p>
          <a:p>
            <a:pPr algn="ctr">
              <a:lnSpc>
                <a:spcPct val="250000"/>
              </a:lnSpc>
            </a:pPr>
            <a:r>
              <a:rPr lang="en-US" dirty="0">
                <a:solidFill>
                  <a:schemeClr val="bg1"/>
                </a:solidFill>
              </a:rPr>
              <a:t>Negative reviews highlighted food quality, safety, and delivery delays.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22F29-7378-08FC-2276-44698362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E75DED-F1D4-65D8-CD25-DFC7FCCA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B207A-9986-FD94-CA1D-83D08FF9B18C}"/>
              </a:ext>
            </a:extLst>
          </p:cNvPr>
          <p:cNvSpPr txBox="1"/>
          <p:nvPr/>
        </p:nvSpPr>
        <p:spPr>
          <a:xfrm>
            <a:off x="594360" y="1165292"/>
            <a:ext cx="11003280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Customer Recovery: </a:t>
            </a:r>
            <a:r>
              <a:rPr lang="en-US" dirty="0">
                <a:solidFill>
                  <a:schemeClr val="bg1"/>
                </a:solidFill>
              </a:rPr>
              <a:t>Target high-value and loyal lapsed customers with personalized offers and communication.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Operational Excellence: </a:t>
            </a:r>
            <a:r>
              <a:rPr lang="en-US" dirty="0">
                <a:solidFill>
                  <a:schemeClr val="bg1"/>
                </a:solidFill>
              </a:rPr>
              <a:t>Strengthen delivery SLA compliance, reduce cancellations, and ensure food safety audits.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Restaurant Partnerships: </a:t>
            </a:r>
            <a:r>
              <a:rPr lang="en-US" dirty="0">
                <a:solidFill>
                  <a:schemeClr val="bg1"/>
                </a:solidFill>
              </a:rPr>
              <a:t>Focus on retaining high-risk cloud kitchens and small brands while maintaining variety.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Trust &amp; Engagement: </a:t>
            </a:r>
            <a:r>
              <a:rPr lang="en-US" dirty="0">
                <a:solidFill>
                  <a:schemeClr val="bg1"/>
                </a:solidFill>
              </a:rPr>
              <a:t>Transparent communication, enhanced safety measures, and promotional campaigns to rebuild confidence.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Marketing Efficiency: </a:t>
            </a:r>
            <a:r>
              <a:rPr lang="en-US" dirty="0">
                <a:solidFill>
                  <a:schemeClr val="bg1"/>
                </a:solidFill>
              </a:rPr>
              <a:t>Optimize CAC by running targeted campaigns, prioritizing segments with high recovery potential.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1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2C97E-DA40-AA66-6B87-6BFD16A9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E160D2-14E2-5DA9-5B4F-684AB926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91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1760</Words>
  <Application>Microsoft Office PowerPoint</Application>
  <PresentationFormat>Widescreen</PresentationFormat>
  <Paragraphs>170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 Display</vt:lpstr>
      <vt:lpstr>Arial</vt:lpstr>
      <vt:lpstr>Calibri</vt:lpstr>
      <vt:lpstr>Calibri Light</vt:lpstr>
      <vt:lpstr>Times New Roman</vt:lpstr>
      <vt:lpstr>Tw Cen MT Condensed Extra Bold</vt:lpstr>
      <vt:lpstr>Office Theme</vt:lpstr>
      <vt:lpstr>PowerPoint Presentation</vt:lpstr>
      <vt:lpstr>Agenda</vt:lpstr>
      <vt:lpstr>Project Context &amp; Crisis Summary</vt:lpstr>
      <vt:lpstr>Project Objective</vt:lpstr>
      <vt:lpstr>Primary Analysis</vt:lpstr>
      <vt:lpstr>Monthly Orders</vt:lpstr>
      <vt:lpstr>Top 5 Cities - Highest Order Decline</vt:lpstr>
      <vt:lpstr>Top 10 Restaurants - Largest Order Decline</vt:lpstr>
      <vt:lpstr>Cancellation Analysis - Pre-Crisis vs Crisis</vt:lpstr>
      <vt:lpstr>Delivery SLA</vt:lpstr>
      <vt:lpstr> Ratings Fluctuation</vt:lpstr>
      <vt:lpstr>Sentiment Insights</vt:lpstr>
      <vt:lpstr>Revenue Impact</vt:lpstr>
      <vt:lpstr>Loyalty Impact</vt:lpstr>
      <vt:lpstr> Customer Lifetime Decline</vt:lpstr>
      <vt:lpstr>PowerPoint Presentation</vt:lpstr>
      <vt:lpstr>Competitive Benchmarking - Crisis Impact</vt:lpstr>
      <vt:lpstr>Customer Acquisition Cost (CAC) - Contributing Factors</vt:lpstr>
      <vt:lpstr>Trust Rebuilding Strategies</vt:lpstr>
      <vt:lpstr>Restaurant Churn Risk</vt:lpstr>
      <vt:lpstr>Lapsed Customer Recovery Potential</vt:lpstr>
      <vt:lpstr>Summary &amp; Recommendations</vt:lpstr>
      <vt:lpstr>Key Findings</vt:lpstr>
      <vt:lpstr>Recommendations: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Rishita Singh</dc:creator>
  <cp:lastModifiedBy>Rishita Singh</cp:lastModifiedBy>
  <cp:revision>176</cp:revision>
  <dcterms:created xsi:type="dcterms:W3CDTF">2025-08-08T20:05:42Z</dcterms:created>
  <dcterms:modified xsi:type="dcterms:W3CDTF">2025-11-23T19:45:24Z</dcterms:modified>
</cp:coreProperties>
</file>